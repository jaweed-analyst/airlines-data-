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84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0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81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61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55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94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70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4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5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0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71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58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3C5B-362C-B049-D386-BE817459C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Maiandra GD" panose="020E0502030308020204" pitchFamily="34" charset="0"/>
              </a:rPr>
              <a:t>Python reinforcement project</a:t>
            </a:r>
            <a:endParaRPr lang="en-IN" sz="3600" dirty="0">
              <a:latin typeface="Maiandra GD" panose="020E0502030308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F2B7E-8AA7-7BFB-15FD-FDF1DE470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Airlines data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E49D-90AC-2542-A155-C6899BD892A8}"/>
              </a:ext>
            </a:extLst>
          </p:cNvPr>
          <p:cNvSpPr txBox="1"/>
          <p:nvPr/>
        </p:nvSpPr>
        <p:spPr>
          <a:xfrm>
            <a:off x="9478297" y="4994787"/>
            <a:ext cx="2035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BY</a:t>
            </a:r>
          </a:p>
          <a:p>
            <a:r>
              <a:rPr lang="en-US" dirty="0">
                <a:latin typeface="+mj-lt"/>
              </a:rPr>
              <a:t>-JAWEED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75726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,377,100+ Flight Stock Photos, Pictures &amp; Royalty-Free Images - iStock |  Airplane, Plane flight, Travel">
            <a:extLst>
              <a:ext uri="{FF2B5EF4-FFF2-40B4-BE49-F238E27FC236}">
                <a16:creationId xmlns:a16="http://schemas.microsoft.com/office/drawing/2014/main" id="{6B91079F-EB13-9D71-CE38-35181C73C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367912"/>
            <a:ext cx="5829300" cy="38862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7B21C4-BDE8-AF07-94D6-1129FD73C5CD}"/>
              </a:ext>
            </a:extLst>
          </p:cNvPr>
          <p:cNvSpPr txBox="1"/>
          <p:nvPr/>
        </p:nvSpPr>
        <p:spPr>
          <a:xfrm>
            <a:off x="5643716" y="33464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Maiandra GD" panose="020E0502030308020204" pitchFamily="34" charset="0"/>
              </a:rPr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E9434-189C-3738-70CE-6ABAD057AD95}"/>
              </a:ext>
            </a:extLst>
          </p:cNvPr>
          <p:cNvSpPr txBox="1"/>
          <p:nvPr/>
        </p:nvSpPr>
        <p:spPr>
          <a:xfrm>
            <a:off x="5909187" y="1104898"/>
            <a:ext cx="3765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Maiandra GD" panose="020E0502030308020204" pitchFamily="34" charset="0"/>
              </a:rPr>
              <a:t>THE AIRLINES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9A742-1643-3931-EB64-3FADE6A82244}"/>
              </a:ext>
            </a:extLst>
          </p:cNvPr>
          <p:cNvSpPr txBox="1"/>
          <p:nvPr/>
        </p:nvSpPr>
        <p:spPr>
          <a:xfrm>
            <a:off x="5643716" y="1737244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The Flights Booking Dataset of various Airlines is a scraped </a:t>
            </a:r>
            <a:r>
              <a:rPr lang="en-IN" sz="2000" dirty="0" err="1">
                <a:latin typeface="+mj-lt"/>
              </a:rPr>
              <a:t>datewise</a:t>
            </a:r>
            <a:r>
              <a:rPr lang="en-IN" sz="2000" dirty="0">
                <a:latin typeface="+mj-lt"/>
              </a:rPr>
              <a:t> from a famous website in a structured format. The dataset contains the records of flight travel details between the cities in India. Here, multiple features are present like Source &amp; Destination City, Arrival &amp; Departure Time, Duration &amp; Price </a:t>
            </a:r>
            <a:r>
              <a:rPr lang="en-IN" sz="2400" dirty="0">
                <a:latin typeface="+mj-lt"/>
              </a:rPr>
              <a:t>of</a:t>
            </a:r>
            <a:r>
              <a:rPr lang="en-IN" sz="2000" dirty="0">
                <a:latin typeface="+mj-lt"/>
              </a:rPr>
              <a:t> the flight etc.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This data is available as a CSV file. We are going to </a:t>
            </a:r>
            <a:r>
              <a:rPr lang="en-IN" sz="2000" dirty="0" err="1">
                <a:latin typeface="+mj-lt"/>
              </a:rPr>
              <a:t>analyze</a:t>
            </a:r>
            <a:r>
              <a:rPr lang="en-IN" sz="2000" dirty="0">
                <a:latin typeface="+mj-lt"/>
              </a:rPr>
              <a:t> this data set using the Pandas </a:t>
            </a:r>
            <a:r>
              <a:rPr lang="en-IN" sz="2000" dirty="0" err="1">
                <a:latin typeface="+mj-lt"/>
              </a:rPr>
              <a:t>DataFrame</a:t>
            </a:r>
            <a:r>
              <a:rPr lang="en-IN" sz="2000" dirty="0">
                <a:latin typeface="+mj-lt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 This analyse will be helpful for those working in Airlines, Travel domain.</a:t>
            </a:r>
          </a:p>
        </p:txBody>
      </p:sp>
    </p:spTree>
    <p:extLst>
      <p:ext uri="{BB962C8B-B14F-4D97-AF65-F5344CB8AC3E}">
        <p14:creationId xmlns:p14="http://schemas.microsoft.com/office/powerpoint/2010/main" val="178982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A52B1-1F2E-7136-BE2C-EC8B6639B671}"/>
              </a:ext>
            </a:extLst>
          </p:cNvPr>
          <p:cNvSpPr txBox="1"/>
          <p:nvPr/>
        </p:nvSpPr>
        <p:spPr>
          <a:xfrm>
            <a:off x="290461" y="48462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Maiandra GD" panose="020E0502030308020204" pitchFamily="34" charset="0"/>
              </a:rPr>
              <a:t> GOAL OF THE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659E6-9BC4-1ED4-53BD-E7693DA710AA}"/>
              </a:ext>
            </a:extLst>
          </p:cNvPr>
          <p:cNvSpPr txBox="1"/>
          <p:nvPr/>
        </p:nvSpPr>
        <p:spPr>
          <a:xfrm>
            <a:off x="476865" y="35666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Maiandra GD" panose="020E0502030308020204" pitchFamily="34" charset="0"/>
              </a:rPr>
              <a:t>DATASET DESCRIPTIVE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2A3C012-35A6-92AA-474A-1BCE9FC0F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10" y="4220972"/>
            <a:ext cx="68924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collected from airline records (e.g., Kaggle).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Contains flight details such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 airline, flight number, airports, timings.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Covers data across a specific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 period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foundation for analyzing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&amp; passenger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delay and cancellation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9B3AB4-8589-7156-FE2B-A684A593335C}"/>
              </a:ext>
            </a:extLst>
          </p:cNvPr>
          <p:cNvSpPr txBox="1"/>
          <p:nvPr/>
        </p:nvSpPr>
        <p:spPr>
          <a:xfrm>
            <a:off x="290461" y="122790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 goal of this project is to </a:t>
            </a:r>
            <a:r>
              <a:rPr lang="en-IN" dirty="0" err="1"/>
              <a:t>analyze</a:t>
            </a:r>
            <a:r>
              <a:rPr lang="en-IN" dirty="0"/>
              <a:t> airline data to understand flight price patterns and booking trends.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 It aims to identify key factors such as airline, class, duration, stops, and days left that affect ticket prices.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 Additionally, the project focuses on visualizing insights and predicting flight prices using machine learning.</a:t>
            </a:r>
          </a:p>
        </p:txBody>
      </p:sp>
      <p:pic>
        <p:nvPicPr>
          <p:cNvPr id="1026" name="Picture 2" descr="This may contain: a passport, globe and airplane on top of a blue background with the word pass it">
            <a:extLst>
              <a:ext uri="{FF2B5EF4-FFF2-40B4-BE49-F238E27FC236}">
                <a16:creationId xmlns:a16="http://schemas.microsoft.com/office/drawing/2014/main" id="{D56A4B7C-6546-1937-8143-D78BB158F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723" y="484623"/>
            <a:ext cx="4158891" cy="511118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7109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6A3E34-3D30-BBC8-3C76-B7D13AC3D20B}"/>
              </a:ext>
            </a:extLst>
          </p:cNvPr>
          <p:cNvSpPr txBox="1"/>
          <p:nvPr/>
        </p:nvSpPr>
        <p:spPr>
          <a:xfrm>
            <a:off x="4041058" y="212015"/>
            <a:ext cx="6440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aiandra GD" panose="020E0502030308020204" pitchFamily="34" charset="0"/>
              </a:rPr>
              <a:t>DATASET OVERVIEW</a:t>
            </a:r>
            <a:endParaRPr lang="en-IN" sz="2800" dirty="0">
              <a:latin typeface="Maiandra GD" panose="020E0502030308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C16B7B-83F9-008D-44F7-B63AECF61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16" y="938290"/>
            <a:ext cx="11238168" cy="498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3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765910-DE89-27AC-ABF8-8319D59793A0}"/>
              </a:ext>
            </a:extLst>
          </p:cNvPr>
          <p:cNvSpPr txBox="1"/>
          <p:nvPr/>
        </p:nvSpPr>
        <p:spPr>
          <a:xfrm>
            <a:off x="4375355" y="137651"/>
            <a:ext cx="6587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aiandra GD" panose="020E0502030308020204" pitchFamily="34" charset="0"/>
              </a:rPr>
              <a:t>DATA CLEANING</a:t>
            </a:r>
            <a:endParaRPr lang="en-IN" sz="2800" dirty="0">
              <a:latin typeface="Maiandra GD" panose="020E0502030308020204" pitchFamily="34" charset="0"/>
            </a:endParaRPr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A5147FE7-9328-9A53-E2C5-3FA3E0E37BB2}"/>
              </a:ext>
            </a:extLst>
          </p:cNvPr>
          <p:cNvSpPr/>
          <p:nvPr/>
        </p:nvSpPr>
        <p:spPr>
          <a:xfrm>
            <a:off x="910358" y="874571"/>
            <a:ext cx="4518022" cy="4965916"/>
          </a:xfrm>
          <a:custGeom>
            <a:avLst/>
            <a:gdLst/>
            <a:ahLst/>
            <a:cxnLst/>
            <a:rect l="l" t="t" r="r" b="b"/>
            <a:pathLst>
              <a:path w="1371211" h="1191187">
                <a:moveTo>
                  <a:pt x="0" y="0"/>
                </a:moveTo>
                <a:lnTo>
                  <a:pt x="1371211" y="0"/>
                </a:lnTo>
                <a:lnTo>
                  <a:pt x="1371211" y="1191187"/>
                </a:lnTo>
                <a:lnTo>
                  <a:pt x="0" y="1191187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5C211-FF34-5DF6-A8AC-3CC917384E92}"/>
              </a:ext>
            </a:extLst>
          </p:cNvPr>
          <p:cNvSpPr txBox="1"/>
          <p:nvPr/>
        </p:nvSpPr>
        <p:spPr>
          <a:xfrm>
            <a:off x="2070118" y="1017513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MISSING VALUES</a:t>
            </a:r>
            <a:endParaRPr lang="en-IN" b="1" dirty="0">
              <a:latin typeface="Maiandra GD" panose="020E0502030308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EB1F6-DFD2-5E65-C695-D5D3606930FA}"/>
              </a:ext>
            </a:extLst>
          </p:cNvPr>
          <p:cNvSpPr txBox="1"/>
          <p:nvPr/>
        </p:nvSpPr>
        <p:spPr>
          <a:xfrm>
            <a:off x="1379675" y="1598363"/>
            <a:ext cx="3283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Checked for missing values across all columns.</a:t>
            </a:r>
            <a:br>
              <a:rPr lang="en-IN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4F91E8-9BBF-6762-7A55-5F5CEA54683B}"/>
              </a:ext>
            </a:extLst>
          </p:cNvPr>
          <p:cNvSpPr txBox="1"/>
          <p:nvPr/>
        </p:nvSpPr>
        <p:spPr>
          <a:xfrm>
            <a:off x="1378525" y="2518340"/>
            <a:ext cx="29300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Columns such as Airline, Source, Destination, Duration, Stops, Class, and Days Left did not contain significant missing values.</a:t>
            </a:r>
            <a:br>
              <a:rPr lang="en-IN" dirty="0"/>
            </a:b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4B1606-DA75-7A63-6A14-23A950B7AEC7}"/>
              </a:ext>
            </a:extLst>
          </p:cNvPr>
          <p:cNvSpPr txBox="1"/>
          <p:nvPr/>
        </p:nvSpPr>
        <p:spPr>
          <a:xfrm>
            <a:off x="1379675" y="4359757"/>
            <a:ext cx="3283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 any small gaps in Duration or Price, appropriate imputation was applied (mean/median replacement).</a:t>
            </a:r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9CC6C320-F649-83DD-389F-41F5EE48208E}"/>
              </a:ext>
            </a:extLst>
          </p:cNvPr>
          <p:cNvSpPr/>
          <p:nvPr/>
        </p:nvSpPr>
        <p:spPr>
          <a:xfrm>
            <a:off x="6617676" y="874571"/>
            <a:ext cx="4518022" cy="4965916"/>
          </a:xfrm>
          <a:custGeom>
            <a:avLst/>
            <a:gdLst/>
            <a:ahLst/>
            <a:cxnLst/>
            <a:rect l="l" t="t" r="r" b="b"/>
            <a:pathLst>
              <a:path w="1371211" h="1191187">
                <a:moveTo>
                  <a:pt x="0" y="0"/>
                </a:moveTo>
                <a:lnTo>
                  <a:pt x="1371211" y="0"/>
                </a:lnTo>
                <a:lnTo>
                  <a:pt x="1371211" y="1191187"/>
                </a:lnTo>
                <a:lnTo>
                  <a:pt x="0" y="1191187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F3FC82-1FEC-1D55-4EBD-C3753474C35E}"/>
              </a:ext>
            </a:extLst>
          </p:cNvPr>
          <p:cNvSpPr txBox="1"/>
          <p:nvPr/>
        </p:nvSpPr>
        <p:spPr>
          <a:xfrm>
            <a:off x="7607006" y="1017513"/>
            <a:ext cx="28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OUTLIERS TREATMENT</a:t>
            </a:r>
            <a:endParaRPr lang="en-IN" b="1" dirty="0">
              <a:latin typeface="Maiandra GD" panose="020E0502030308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98C99-FF89-04F8-6246-A15E7989961D}"/>
              </a:ext>
            </a:extLst>
          </p:cNvPr>
          <p:cNvSpPr txBox="1"/>
          <p:nvPr/>
        </p:nvSpPr>
        <p:spPr>
          <a:xfrm>
            <a:off x="6938413" y="1529787"/>
            <a:ext cx="32021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Outliers were detected in the Price column using boxplots. Some tickets were extremely high compared to the rest.</a:t>
            </a:r>
            <a:br>
              <a:rPr lang="en-IN" dirty="0"/>
            </a:b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615036-6924-B160-8421-3036CA4A14C7}"/>
              </a:ext>
            </a:extLst>
          </p:cNvPr>
          <p:cNvSpPr txBox="1"/>
          <p:nvPr/>
        </p:nvSpPr>
        <p:spPr>
          <a:xfrm>
            <a:off x="6938413" y="2740992"/>
            <a:ext cx="29956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Since these could represent rare but valid cases (e.g., last-minute business class tickets), outliers were not removed but flagged for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65C8D-FDC5-6746-8F3C-694545E602BB}"/>
              </a:ext>
            </a:extLst>
          </p:cNvPr>
          <p:cNvSpPr txBox="1"/>
          <p:nvPr/>
        </p:nvSpPr>
        <p:spPr>
          <a:xfrm>
            <a:off x="6938413" y="4636756"/>
            <a:ext cx="3099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Flight duration also showed rare extreme values, which were carefully review</a:t>
            </a:r>
          </a:p>
        </p:txBody>
      </p:sp>
    </p:spTree>
    <p:extLst>
      <p:ext uri="{BB962C8B-B14F-4D97-AF65-F5344CB8AC3E}">
        <p14:creationId xmlns:p14="http://schemas.microsoft.com/office/powerpoint/2010/main" val="264977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84F30E-E072-00D4-B26C-230F5D80FCE0}"/>
              </a:ext>
            </a:extLst>
          </p:cNvPr>
          <p:cNvSpPr txBox="1"/>
          <p:nvPr/>
        </p:nvSpPr>
        <p:spPr>
          <a:xfrm>
            <a:off x="1740310" y="235973"/>
            <a:ext cx="470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Maiandra GD" panose="020E0502030308020204" pitchFamily="34" charset="0"/>
              </a:rPr>
              <a:t>MISSING VALUES</a:t>
            </a:r>
            <a:endParaRPr lang="en-IN" sz="2400" b="1" u="sng" dirty="0">
              <a:latin typeface="Maiandra GD" panose="020E0502030308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711FC3-B938-7EE7-CF21-E6F3D71EE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920817"/>
            <a:ext cx="2553299" cy="32994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8C7BD6-0457-7A77-B06A-63540ECB7E5F}"/>
              </a:ext>
            </a:extLst>
          </p:cNvPr>
          <p:cNvSpPr txBox="1"/>
          <p:nvPr/>
        </p:nvSpPr>
        <p:spPr>
          <a:xfrm>
            <a:off x="2897428" y="138175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DATASET CONTAINS NO NULL VALUES ENSURING CLEAN AND RELIABLE ANALYSIS WITHOUT THE NEED FOR IMPUTATION OR DATA CLEANING.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D56D5-18FC-87D7-94D1-C36F5F409F28}"/>
              </a:ext>
            </a:extLst>
          </p:cNvPr>
          <p:cNvSpPr txBox="1"/>
          <p:nvPr/>
        </p:nvSpPr>
        <p:spPr>
          <a:xfrm>
            <a:off x="8514737" y="3750756"/>
            <a:ext cx="3244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Maiandra GD" panose="020E0502030308020204" pitchFamily="34" charset="0"/>
              </a:rPr>
              <a:t>DROP COLUMNS</a:t>
            </a:r>
            <a:endParaRPr lang="en-IN" sz="2400" b="1" u="sng" dirty="0">
              <a:latin typeface="Maiandra GD" panose="020E0502030308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A15B61-481C-2774-B6A6-33A3BE63D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850" y="4450688"/>
            <a:ext cx="3629532" cy="9050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4B78EA-0A4E-3D16-8DA6-2E50E5CA4615}"/>
              </a:ext>
            </a:extLst>
          </p:cNvPr>
          <p:cNvSpPr txBox="1"/>
          <p:nvPr/>
        </p:nvSpPr>
        <p:spPr>
          <a:xfrm>
            <a:off x="3583858" y="45189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REMOVING THE INDEX COLUMN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C9A22B-9AF3-F7EB-0BEC-E1E6028A1E77}"/>
              </a:ext>
            </a:extLst>
          </p:cNvPr>
          <p:cNvSpPr txBox="1"/>
          <p:nvPr/>
        </p:nvSpPr>
        <p:spPr>
          <a:xfrm>
            <a:off x="2664543" y="490318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IS NOT USEFUL FOR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ONLY ADDS EXTRA NOISE TO THE DATASET.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REMOVING IT MAKES THE DATA CLEAN AND CLEAR.</a:t>
            </a:r>
          </a:p>
        </p:txBody>
      </p:sp>
    </p:spTree>
    <p:extLst>
      <p:ext uri="{BB962C8B-B14F-4D97-AF65-F5344CB8AC3E}">
        <p14:creationId xmlns:p14="http://schemas.microsoft.com/office/powerpoint/2010/main" val="386682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50F36-9CB5-3810-FDD5-964F238E05D6}"/>
              </a:ext>
            </a:extLst>
          </p:cNvPr>
          <p:cNvSpPr txBox="1"/>
          <p:nvPr/>
        </p:nvSpPr>
        <p:spPr>
          <a:xfrm>
            <a:off x="4316361" y="290277"/>
            <a:ext cx="480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Maiandra GD" panose="020E0502030308020204" pitchFamily="34" charset="0"/>
              </a:rPr>
              <a:t>DROP DUPLICATES</a:t>
            </a:r>
            <a:endParaRPr lang="en-IN" sz="2400" b="1" u="sng" dirty="0">
              <a:latin typeface="Maiandra GD" panose="020E0502030308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CB372-EC34-4105-3B80-68C02554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344" y="1049117"/>
            <a:ext cx="6443991" cy="475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4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B4C32-584B-D46A-D467-08C98E98652F}"/>
              </a:ext>
            </a:extLst>
          </p:cNvPr>
          <p:cNvSpPr txBox="1"/>
          <p:nvPr/>
        </p:nvSpPr>
        <p:spPr>
          <a:xfrm>
            <a:off x="4336027" y="176980"/>
            <a:ext cx="5545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Maiandra GD" panose="020E0502030308020204" pitchFamily="34" charset="0"/>
              </a:rPr>
              <a:t>OUTLIERS TREATMENT</a:t>
            </a:r>
            <a:endParaRPr lang="en-IN" sz="2400" b="1" u="sng" dirty="0">
              <a:latin typeface="Maiandra GD" panose="020E0502030308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4083D-641A-DAE5-30FA-10BA59C9B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353" y="819571"/>
            <a:ext cx="8819294" cy="36612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7897E-7A69-C54D-7ACF-DF4DDC9FDD7B}"/>
              </a:ext>
            </a:extLst>
          </p:cNvPr>
          <p:cNvSpPr txBox="1"/>
          <p:nvPr/>
        </p:nvSpPr>
        <p:spPr>
          <a:xfrm>
            <a:off x="1686353" y="45712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 above the two charts which  duration , price  have outliers.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361B1-E2C2-D647-9B23-AC4E79885F28}"/>
              </a:ext>
            </a:extLst>
          </p:cNvPr>
          <p:cNvSpPr txBox="1"/>
          <p:nvPr/>
        </p:nvSpPr>
        <p:spPr>
          <a:xfrm>
            <a:off x="1686353" y="50917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High prices (Business class, last-minute) and long durations (connecting flights) are expected.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E33C40-4CF5-F157-F564-E965D247A417}"/>
              </a:ext>
            </a:extLst>
          </p:cNvPr>
          <p:cNvSpPr txBox="1"/>
          <p:nvPr/>
        </p:nvSpPr>
        <p:spPr>
          <a:xfrm>
            <a:off x="1691390" y="57380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when we remove the outliers means its affect analysis results</a:t>
            </a:r>
          </a:p>
        </p:txBody>
      </p:sp>
    </p:spTree>
    <p:extLst>
      <p:ext uri="{BB962C8B-B14F-4D97-AF65-F5344CB8AC3E}">
        <p14:creationId xmlns:p14="http://schemas.microsoft.com/office/powerpoint/2010/main" val="255676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05D4C-CB47-C07F-675B-716D357D87B0}"/>
              </a:ext>
            </a:extLst>
          </p:cNvPr>
          <p:cNvSpPr txBox="1"/>
          <p:nvPr/>
        </p:nvSpPr>
        <p:spPr>
          <a:xfrm>
            <a:off x="3677264" y="137651"/>
            <a:ext cx="63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Maiandra GD" panose="020E0502030308020204" pitchFamily="34" charset="0"/>
              </a:rPr>
              <a:t>EXPLORATORY DATA ANALYSIS</a:t>
            </a:r>
            <a:endParaRPr lang="en-IN" sz="2400" b="1" u="sng" dirty="0">
              <a:latin typeface="Maiandra GD" panose="020E0502030308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C35E2-6830-E9E4-FF21-FC34396BAEC2}"/>
              </a:ext>
            </a:extLst>
          </p:cNvPr>
          <p:cNvSpPr txBox="1"/>
          <p:nvPr/>
        </p:nvSpPr>
        <p:spPr>
          <a:xfrm>
            <a:off x="530942" y="924232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1.UNIVARIATE ANALYSIS</a:t>
            </a:r>
            <a:endParaRPr lang="en-IN" b="1" dirty="0">
              <a:latin typeface="Maiandra GD" panose="020E0502030308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F3EC7-503A-D1DC-A1C6-6B1914B97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52" y="1969887"/>
            <a:ext cx="4720822" cy="2918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084A7B-24A8-AA96-D5AB-08008BDB06DF}"/>
              </a:ext>
            </a:extLst>
          </p:cNvPr>
          <p:cNvSpPr txBox="1"/>
          <p:nvPr/>
        </p:nvSpPr>
        <p:spPr>
          <a:xfrm>
            <a:off x="894066" y="5021484"/>
            <a:ext cx="432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FLIGHT PRICES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F9C49-3F82-3D78-E672-35601C2AA5F1}"/>
              </a:ext>
            </a:extLst>
          </p:cNvPr>
          <p:cNvSpPr txBox="1"/>
          <p:nvPr/>
        </p:nvSpPr>
        <p:spPr>
          <a:xfrm>
            <a:off x="1986116" y="1542699"/>
            <a:ext cx="314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HISTOGRAM PLOT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862452-B4D9-682F-CAC4-41528FED6171}"/>
              </a:ext>
            </a:extLst>
          </p:cNvPr>
          <p:cNvSpPr txBox="1"/>
          <p:nvPr/>
        </p:nvSpPr>
        <p:spPr>
          <a:xfrm>
            <a:off x="8209935" y="15426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PIE CHART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AA3BCF-58D8-146F-FBC9-C1D602BDC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035" y="1969887"/>
            <a:ext cx="3527979" cy="31308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85EF8D-29B9-E99A-0BC1-D7DC9DC6BDE7}"/>
              </a:ext>
            </a:extLst>
          </p:cNvPr>
          <p:cNvSpPr txBox="1"/>
          <p:nvPr/>
        </p:nvSpPr>
        <p:spPr>
          <a:xfrm>
            <a:off x="6971743" y="5206150"/>
            <a:ext cx="7152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FLIGHTS DISTRIBUTION BY AIRLINE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132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CF5B71-1450-E3B6-C742-F5AF0AE41A1D}"/>
              </a:ext>
            </a:extLst>
          </p:cNvPr>
          <p:cNvSpPr txBox="1"/>
          <p:nvPr/>
        </p:nvSpPr>
        <p:spPr>
          <a:xfrm>
            <a:off x="511277" y="235974"/>
            <a:ext cx="44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2. BIVARIATE ANALYSIS</a:t>
            </a:r>
            <a:endParaRPr lang="en-IN" b="1" dirty="0">
              <a:latin typeface="Maiandra GD" panose="020E0502030308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C34D5-EFBF-7948-CC1F-1AB2F8DB27F6}"/>
              </a:ext>
            </a:extLst>
          </p:cNvPr>
          <p:cNvSpPr txBox="1"/>
          <p:nvPr/>
        </p:nvSpPr>
        <p:spPr>
          <a:xfrm>
            <a:off x="2233340" y="1257013"/>
            <a:ext cx="336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BAR PLOT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1EE3B0-63B7-18D1-43CC-67647A09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714835"/>
            <a:ext cx="5084696" cy="32111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98EB0C-22B3-9ECF-EF72-D2454A30FFDD}"/>
              </a:ext>
            </a:extLst>
          </p:cNvPr>
          <p:cNvSpPr txBox="1"/>
          <p:nvPr/>
        </p:nvSpPr>
        <p:spPr>
          <a:xfrm>
            <a:off x="1189703" y="5201265"/>
            <a:ext cx="4129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FLIGHT PRICE BY AIRLINE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233543-2664-DB3C-68BE-FBBC655C1F26}"/>
              </a:ext>
            </a:extLst>
          </p:cNvPr>
          <p:cNvSpPr txBox="1"/>
          <p:nvPr/>
        </p:nvSpPr>
        <p:spPr>
          <a:xfrm>
            <a:off x="8121445" y="1257013"/>
            <a:ext cx="2172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VIOLIN PLOT</a:t>
            </a:r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4E255D-5531-8689-C452-4AE6CCD81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6345"/>
            <a:ext cx="5889523" cy="36378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9BAA98-055A-8F9E-7F86-8D81488B773B}"/>
              </a:ext>
            </a:extLst>
          </p:cNvPr>
          <p:cNvSpPr txBox="1"/>
          <p:nvPr/>
        </p:nvSpPr>
        <p:spPr>
          <a:xfrm>
            <a:off x="7079226" y="5310402"/>
            <a:ext cx="4434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 OF CLASS AND AIRLINES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8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F6200-94DF-61F4-DBC8-74CD6BD82DAC}"/>
              </a:ext>
            </a:extLst>
          </p:cNvPr>
          <p:cNvSpPr txBox="1"/>
          <p:nvPr/>
        </p:nvSpPr>
        <p:spPr>
          <a:xfrm>
            <a:off x="1720646" y="840432"/>
            <a:ext cx="324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SCATTER PLOT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6E081-E4B3-F067-32E3-EE6AE51F0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00" y="1401686"/>
            <a:ext cx="5465627" cy="3135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ECB936-A664-150D-3AE6-70F5EF7E27E4}"/>
              </a:ext>
            </a:extLst>
          </p:cNvPr>
          <p:cNvSpPr txBox="1"/>
          <p:nvPr/>
        </p:nvSpPr>
        <p:spPr>
          <a:xfrm>
            <a:off x="713392" y="4729316"/>
            <a:ext cx="4768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DURATION BY AIRLINES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41F49-720D-EBC8-D42B-2499C54CAAE4}"/>
              </a:ext>
            </a:extLst>
          </p:cNvPr>
          <p:cNvSpPr txBox="1"/>
          <p:nvPr/>
        </p:nvSpPr>
        <p:spPr>
          <a:xfrm>
            <a:off x="8711380" y="1025098"/>
            <a:ext cx="301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LINE PLOT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709261-F9E8-620E-9ECA-E0D414D26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522" y="1545198"/>
            <a:ext cx="5706577" cy="2881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2C66C8-5EE1-53D4-F3E0-141F188F06A7}"/>
              </a:ext>
            </a:extLst>
          </p:cNvPr>
          <p:cNvSpPr txBox="1"/>
          <p:nvPr/>
        </p:nvSpPr>
        <p:spPr>
          <a:xfrm>
            <a:off x="8160773" y="4577883"/>
            <a:ext cx="2910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VS DAY LEFT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25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6EC027-C570-D792-7825-442EF5EF827C}"/>
              </a:ext>
            </a:extLst>
          </p:cNvPr>
          <p:cNvSpPr txBox="1"/>
          <p:nvPr/>
        </p:nvSpPr>
        <p:spPr>
          <a:xfrm>
            <a:off x="599768" y="255639"/>
            <a:ext cx="499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3.MULTIVARIATE ANALYSIS</a:t>
            </a:r>
            <a:endParaRPr lang="en-IN" b="1" dirty="0">
              <a:latin typeface="Maiandra GD" panose="020E0502030308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E84D4-2C70-29CD-8EF0-D9D8EE21CAAE}"/>
              </a:ext>
            </a:extLst>
          </p:cNvPr>
          <p:cNvSpPr txBox="1"/>
          <p:nvPr/>
        </p:nvSpPr>
        <p:spPr>
          <a:xfrm>
            <a:off x="2713703" y="854966"/>
            <a:ext cx="411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HEAT MAP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49A33-4644-F7E5-BA49-AB8B130A2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1257218"/>
            <a:ext cx="7145282" cy="4561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ED0FED-4CE8-107D-AB22-3FF789925868}"/>
              </a:ext>
            </a:extLst>
          </p:cNvPr>
          <p:cNvSpPr txBox="1"/>
          <p:nvPr/>
        </p:nvSpPr>
        <p:spPr>
          <a:xfrm>
            <a:off x="7757651" y="1905364"/>
            <a:ext cx="43458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Price vs Duration shows a weak positive relation, meaning longer flights are usually a bit costlier.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Price vs </a:t>
            </a:r>
            <a:r>
              <a:rPr lang="en-IN" dirty="0" err="1"/>
              <a:t>Days_Left</a:t>
            </a:r>
            <a:r>
              <a:rPr lang="en-IN" dirty="0"/>
              <a:t> has a weak negative relation, showing last-minute bookings tend to be slightly more expensive.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strong correlations exist among features, meaning each factor (price, time, duration) affects flights mostly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3188658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10F765-9657-AA0E-BDBB-E6EADFCC4135}"/>
              </a:ext>
            </a:extLst>
          </p:cNvPr>
          <p:cNvSpPr txBox="1"/>
          <p:nvPr/>
        </p:nvSpPr>
        <p:spPr>
          <a:xfrm>
            <a:off x="4463845" y="275302"/>
            <a:ext cx="4090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Maiandra GD" panose="020E0502030308020204" pitchFamily="34" charset="0"/>
              </a:rPr>
              <a:t>HYPOTHESIS TESTING</a:t>
            </a:r>
            <a:endParaRPr lang="en-IN" sz="2400" b="1" u="sng" dirty="0">
              <a:latin typeface="Maiandra GD" panose="020E0502030308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78E32-262A-C437-6E39-21F9F95CCB38}"/>
              </a:ext>
            </a:extLst>
          </p:cNvPr>
          <p:cNvSpPr txBox="1"/>
          <p:nvPr/>
        </p:nvSpPr>
        <p:spPr>
          <a:xfrm>
            <a:off x="806245" y="924232"/>
            <a:ext cx="4090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1.ONE SAMPLE T-TEST FOR AVERAGE PRICE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561F7-53FC-6C77-2987-ACC8D966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20" y="1676155"/>
            <a:ext cx="9944839" cy="394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47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DE0CAD-F49E-AA27-A93C-A99354F5B3EA}"/>
              </a:ext>
            </a:extLst>
          </p:cNvPr>
          <p:cNvSpPr txBox="1"/>
          <p:nvPr/>
        </p:nvSpPr>
        <p:spPr>
          <a:xfrm>
            <a:off x="894735" y="422787"/>
            <a:ext cx="5073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2.ONE SAMPLE Z-TEST FOR DURATION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AA83CB-341A-E305-EC16-C3004C01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65" y="1225707"/>
            <a:ext cx="9886031" cy="42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90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EE3FD9-0E08-91B2-9C4B-F75C6D1A8ACF}"/>
              </a:ext>
            </a:extLst>
          </p:cNvPr>
          <p:cNvSpPr txBox="1"/>
          <p:nvPr/>
        </p:nvSpPr>
        <p:spPr>
          <a:xfrm>
            <a:off x="1042218" y="344128"/>
            <a:ext cx="49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3.PAIRED TEST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9AC38-C375-1503-470D-807967D6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595" y="900273"/>
            <a:ext cx="8541505" cy="514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5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C0462-CF6E-8C40-6D8C-8591EED711A5}"/>
              </a:ext>
            </a:extLst>
          </p:cNvPr>
          <p:cNvSpPr txBox="1"/>
          <p:nvPr/>
        </p:nvSpPr>
        <p:spPr>
          <a:xfrm>
            <a:off x="1120877" y="510826"/>
            <a:ext cx="540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Maiandra GD" panose="020E0502030308020204" pitchFamily="34" charset="0"/>
              </a:rPr>
              <a:t>CONCLUSION</a:t>
            </a:r>
            <a:endParaRPr lang="en-IN" sz="2400" b="1" u="sng" dirty="0">
              <a:latin typeface="Maiandra GD" panose="020E0502030308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84346-02BA-8283-79CC-BDDBBC7D22F3}"/>
              </a:ext>
            </a:extLst>
          </p:cNvPr>
          <p:cNvSpPr txBox="1"/>
          <p:nvPr/>
        </p:nvSpPr>
        <p:spPr>
          <a:xfrm>
            <a:off x="2546555" y="1205122"/>
            <a:ext cx="73053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This project highlights that airline ticket prices are influenced by multiple factors including airline type, class, stops, duration, booking window, and departure time.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Business class fares are consistently higher, while economy fares vary widely depending on booking patterns.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Non-stop flights, though costly, save travel time, whereas flights with stops are cheaper but longer.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Booking window plays the most crucial role, with last-minute tickets being very expensive and advance bookings offering the best deals.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Outliers such as high-priced last-minute business class tickets reflect dynamic pricing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668174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F4A7CE-29D3-CD99-7EB9-9D74C4CE1F90}"/>
              </a:ext>
            </a:extLst>
          </p:cNvPr>
          <p:cNvSpPr txBox="1"/>
          <p:nvPr/>
        </p:nvSpPr>
        <p:spPr>
          <a:xfrm>
            <a:off x="5555226" y="2684207"/>
            <a:ext cx="52504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Forte" panose="03060902040502070203" pitchFamily="66" charset="0"/>
              </a:rPr>
              <a:t>THANK YOU</a:t>
            </a:r>
            <a:endParaRPr lang="en-IN" sz="66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59611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</TotalTime>
  <Words>689</Words>
  <Application>Microsoft Office PowerPoint</Application>
  <PresentationFormat>Widescreen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Forte</vt:lpstr>
      <vt:lpstr>Maiandra GD</vt:lpstr>
      <vt:lpstr>Times New Roman</vt:lpstr>
      <vt:lpstr>Wingdings</vt:lpstr>
      <vt:lpstr>Retrospect</vt:lpstr>
      <vt:lpstr>Python reinforcement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JAWEED AKTHER</dc:creator>
  <cp:lastModifiedBy>JAWEED AKTHER</cp:lastModifiedBy>
  <cp:revision>4</cp:revision>
  <dcterms:created xsi:type="dcterms:W3CDTF">2025-08-31T05:46:03Z</dcterms:created>
  <dcterms:modified xsi:type="dcterms:W3CDTF">2025-09-01T04:59:55Z</dcterms:modified>
</cp:coreProperties>
</file>